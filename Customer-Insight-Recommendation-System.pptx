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Heebo Thin"/>
      <p:regular r:id="rId201314"/>
    </p:embeddedFont>
    <p:embeddedFont>
      <p:font typeface="Heebo ExtraLight"/>
      <p:regular r:id="rId201315"/>
    </p:embeddedFont>
    <p:embeddedFont>
      <p:font typeface="Heebo Light"/>
      <p:regular r:id="rId201316"/>
    </p:embeddedFont>
    <p:embeddedFont>
      <p:font typeface="Heebo"/>
      <p:regular r:id="rId201317"/>
    </p:embeddedFont>
    <p:embeddedFont>
      <p:font typeface="Heebo Medium"/>
      <p:regular r:id="rId201318"/>
    </p:embeddedFont>
    <p:embeddedFont>
      <p:font typeface="Heebo SemiBold"/>
      <p:regular r:id="rId201319"/>
    </p:embeddedFont>
    <p:embeddedFont>
      <p:font typeface="Heebo Bold"/>
      <p:regular r:id="rId201320"/>
    </p:embeddedFont>
    <p:embeddedFont>
      <p:font typeface="Heebo ExtraBold"/>
      <p:regular r:id="rId201321"/>
    </p:embeddedFont>
    <p:embeddedFont>
      <p:font typeface="Heebo Black"/>
      <p:regular r:id="rId201322"/>
    </p:embeddedFont>
    <p:embeddedFont>
      <p:font typeface="Montserrat Thin"/>
      <p:regular r:id="rId201323"/>
    </p:embeddedFont>
    <p:embeddedFont>
      <p:font typeface="Montserrat"/>
      <p:regular r:id="rId201324"/>
    </p:embeddedFont>
    <p:embeddedFont>
      <p:font typeface="Montserrat SemiBold"/>
      <p:regular r:id="rId201325"/>
    </p:embeddedFont>
    <p:embeddedFont>
      <p:font typeface="Montserrat Bold"/>
      <p:regular r:id="rId201326"/>
    </p:embeddedFont>
    <p:embeddedFont>
      <p:font typeface="Montserrat Black"/>
      <p:regular r:id="rId201327"/>
    </p:embeddedFont>
    <p:embeddedFont>
      <p:font typeface="Montserrat Light"/>
      <p:regular r:id="rId201328"/>
    </p:embeddedFont>
    <p:embeddedFont>
      <p:font typeface="Montserrat ExtraLight"/>
      <p:regular r:id="rId201329"/>
    </p:embeddedFont>
    <p:embeddedFont>
      <p:font typeface="Montserrat Medium"/>
      <p:regular r:id="rId201330"/>
    </p:embeddedFont>
    <p:embeddedFont>
      <p:font typeface="Montserrat ExtraBold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sv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421160"/>
            <a:ext cx="1643435" cy="266402"/>
          </a:xfrm>
          <a:prstGeom prst="roundRect">
            <a:avLst>
              <a:gd name="adj" fmla="val 17880"/>
            </a:avLst>
          </a:prstGeom>
          <a:solidFill>
            <a:srgbClr val="1E0C41"/>
          </a:solidFill>
          <a:ln/>
        </p:spPr>
      </p:sp>
      <p:sp>
        <p:nvSpPr>
          <p:cNvPr id="4" name="Shape 1"/>
          <p:cNvSpPr/>
          <p:nvPr/>
        </p:nvSpPr>
        <p:spPr>
          <a:xfrm>
            <a:off x="581174" y="1497657"/>
            <a:ext cx="113407" cy="113407"/>
          </a:xfrm>
          <a:prstGeom prst="rect">
            <a:avLst/>
          </a:prstGeom>
          <a:solidFill>
            <a:srgbClr val="DCD7E5"/>
          </a:solidFill>
          <a:ln/>
        </p:spPr>
      </p:sp>
      <p:sp>
        <p:nvSpPr>
          <p:cNvPr id="5" name="Text 2"/>
          <p:cNvSpPr/>
          <p:nvPr/>
        </p:nvSpPr>
        <p:spPr>
          <a:xfrm>
            <a:off x="751284" y="1463650"/>
            <a:ext cx="176041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BUSINESS INTELLIGENCE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96119" y="1744266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Insight Recommendation System</a:t>
            </a:r>
            <a:endParaRPr lang="en-US" sz="2750" dirty="0"/>
          </a:p>
        </p:txBody>
      </p:sp>
      <p:sp>
        <p:nvSpPr>
          <p:cNvPr id="7" name="Text 4"/>
          <p:cNvSpPr/>
          <p:nvPr/>
        </p:nvSpPr>
        <p:spPr>
          <a:xfrm>
            <a:off x="496119" y="2842840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Turning raw e-commerce data into actionable business insights through an interactive intelligence dashboard.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6119" y="3455938"/>
            <a:ext cx="615032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481c9e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1174" y="3498428"/>
            <a:ext cx="90212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PYTHON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181993" y="3455938"/>
            <a:ext cx="505048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481c9e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267048" y="3498428"/>
            <a:ext cx="79213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FLASK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757883" y="3455938"/>
            <a:ext cx="597098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481c9e">
                <a:alpha val="10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842939" y="3498428"/>
            <a:ext cx="88418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PANDAS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425824" y="3455938"/>
            <a:ext cx="676647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481c9e">
                <a:alpha val="10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510879" y="3498428"/>
            <a:ext cx="96373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CHART.JS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597619"/>
            <a:ext cx="1214512" cy="266402"/>
          </a:xfrm>
          <a:prstGeom prst="roundRect">
            <a:avLst>
              <a:gd name="adj" fmla="val 17880"/>
            </a:avLst>
          </a:prstGeom>
          <a:solidFill>
            <a:srgbClr val="1E0C41"/>
          </a:solidFill>
          <a:ln/>
        </p:spPr>
      </p:sp>
      <p:sp>
        <p:nvSpPr>
          <p:cNvPr id="4" name="Shape 1"/>
          <p:cNvSpPr/>
          <p:nvPr/>
        </p:nvSpPr>
        <p:spPr>
          <a:xfrm>
            <a:off x="4010174" y="674117"/>
            <a:ext cx="113407" cy="113407"/>
          </a:xfrm>
          <a:prstGeom prst="rect">
            <a:avLst/>
          </a:prstGeom>
          <a:solidFill>
            <a:srgbClr val="DCD7E5"/>
          </a:solidFill>
          <a:ln/>
        </p:spPr>
      </p:sp>
      <p:sp>
        <p:nvSpPr>
          <p:cNvPr id="5" name="Text 2"/>
          <p:cNvSpPr/>
          <p:nvPr/>
        </p:nvSpPr>
        <p:spPr>
          <a:xfrm>
            <a:off x="4180284" y="640110"/>
            <a:ext cx="133149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CHALLENGE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925119" y="92072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Raw Data to Decisions</a:t>
            </a:r>
            <a:endParaRPr lang="en-US" sz="2750" dirty="0"/>
          </a:p>
        </p:txBody>
      </p:sp>
      <p:sp>
        <p:nvSpPr>
          <p:cNvPr id="7" name="Text 4"/>
          <p:cNvSpPr/>
          <p:nvPr/>
        </p:nvSpPr>
        <p:spPr>
          <a:xfrm>
            <a:off x="3925119" y="2019300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E-commerce companies collect thousands of transactions daily — but raw sales data alone doesn't answer the questions that drive growth.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925119" y="2759943"/>
            <a:ext cx="2188443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Which products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actually drive revenue?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Which customers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are most valuable?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Which markets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perform best?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What actions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should leadership take?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62105" y="2632397"/>
            <a:ext cx="2392635" cy="1913483"/>
          </a:xfrm>
          <a:prstGeom prst="roundRect">
            <a:avLst>
              <a:gd name="adj" fmla="val 5334"/>
            </a:avLst>
          </a:prstGeom>
          <a:solidFill>
            <a:srgbClr val="481C9E">
              <a:alpha val="9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503863" y="277415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Solution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503863" y="3137371"/>
            <a:ext cx="2109118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This system converts transactional data into clear, decision-ready insights — bridging the gap between data collection and business strategy.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9873"/>
            <a:ext cx="1403077" cy="244376"/>
          </a:xfrm>
          <a:prstGeom prst="roundRect">
            <a:avLst>
              <a:gd name="adj" fmla="val 18274"/>
            </a:avLst>
          </a:prstGeom>
          <a:solidFill>
            <a:srgbClr val="1E0C41"/>
          </a:solidFill>
          <a:ln/>
        </p:spPr>
      </p:sp>
      <p:sp>
        <p:nvSpPr>
          <p:cNvPr id="3" name="Shape 1"/>
          <p:cNvSpPr/>
          <p:nvPr/>
        </p:nvSpPr>
        <p:spPr>
          <a:xfrm>
            <a:off x="575816" y="478929"/>
            <a:ext cx="106263" cy="106263"/>
          </a:xfrm>
          <a:prstGeom prst="rect">
            <a:avLst/>
          </a:prstGeom>
          <a:solidFill>
            <a:srgbClr val="DCD7E5"/>
          </a:solidFill>
          <a:ln/>
        </p:spPr>
      </p:sp>
      <p:sp>
        <p:nvSpPr>
          <p:cNvPr id="4" name="Text 2"/>
          <p:cNvSpPr/>
          <p:nvPr/>
        </p:nvSpPr>
        <p:spPr>
          <a:xfrm>
            <a:off x="735211" y="449684"/>
            <a:ext cx="1541487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PROJECT OBJECTIVES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96119" y="704031"/>
            <a:ext cx="37798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Six Pillars of Insight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306190"/>
            <a:ext cx="332259" cy="3322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1794197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 Performance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96119" y="2076599"/>
            <a:ext cx="399797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Track revenue trends and identify high-performing periods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9837" y="1306190"/>
            <a:ext cx="332259" cy="3322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49837" y="1794197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Behavior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49837" y="2076599"/>
            <a:ext cx="399804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Segment customers by value and understand purchasing patterns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531715"/>
            <a:ext cx="332259" cy="33225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6119" y="301972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Demand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96119" y="3302124"/>
            <a:ext cx="399797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Rank top-selling products and quantify demand volume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9837" y="2531715"/>
            <a:ext cx="332259" cy="33225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49837" y="301972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Country Revenue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4649837" y="3302124"/>
            <a:ext cx="399804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Map revenue distribution across global markets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757240"/>
            <a:ext cx="332259" cy="33225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96119" y="4245248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Patterns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496119" y="4527649"/>
            <a:ext cx="399797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Discover hidden trends and correlations in transaction data</a:t>
            </a:r>
            <a:endParaRPr 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49837" y="3757240"/>
            <a:ext cx="332259" cy="332259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649837" y="4245248"/>
            <a:ext cx="215823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Recommendations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4649837" y="4527649"/>
            <a:ext cx="399804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Generate data-driven strategies for inventory and marketing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5631"/>
            <a:ext cx="1277987" cy="239018"/>
          </a:xfrm>
          <a:prstGeom prst="roundRect">
            <a:avLst>
              <a:gd name="adj" fmla="val 18372"/>
            </a:avLst>
          </a:prstGeom>
          <a:solidFill>
            <a:srgbClr val="1E0C41"/>
          </a:solidFill>
          <a:ln/>
        </p:spPr>
      </p:sp>
      <p:sp>
        <p:nvSpPr>
          <p:cNvPr id="3" name="Shape 1"/>
          <p:cNvSpPr/>
          <p:nvPr/>
        </p:nvSpPr>
        <p:spPr>
          <a:xfrm>
            <a:off x="574477" y="472827"/>
            <a:ext cx="104552" cy="104552"/>
          </a:xfrm>
          <a:prstGeom prst="rect">
            <a:avLst/>
          </a:prstGeom>
          <a:solidFill>
            <a:srgbClr val="DCD7E5"/>
          </a:solidFill>
          <a:ln/>
        </p:spPr>
      </p:sp>
      <p:sp>
        <p:nvSpPr>
          <p:cNvPr id="4" name="Text 2"/>
          <p:cNvSpPr/>
          <p:nvPr/>
        </p:nvSpPr>
        <p:spPr>
          <a:xfrm>
            <a:off x="731267" y="444773"/>
            <a:ext cx="142168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DATASET OVERVIEW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96119" y="692795"/>
            <a:ext cx="4199037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Online Retail II Dataset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496119" y="1281857"/>
            <a:ext cx="860896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comprehensive transactional dataset spanning multiple countries and years of e-commerce activity.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96119" y="1753716"/>
            <a:ext cx="4763542" cy="2848570"/>
          </a:xfrm>
          <a:prstGeom prst="roundRect">
            <a:avLst>
              <a:gd name="adj" fmla="val 1927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0881" y="1758479"/>
            <a:ext cx="4754017" cy="3548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31552" y="1835497"/>
            <a:ext cx="257048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Feature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10942" y="1835497"/>
            <a:ext cx="257048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0881" y="2113359"/>
            <a:ext cx="4754017" cy="3548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31552" y="2190378"/>
            <a:ext cx="257048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Invoice Number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10942" y="2190378"/>
            <a:ext cx="257048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Unique transaction identifier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0881" y="2468240"/>
            <a:ext cx="4754017" cy="3548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31552" y="2545259"/>
            <a:ext cx="257048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Product Description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0942" y="2545259"/>
            <a:ext cx="257048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Item name and details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0881" y="2823121"/>
            <a:ext cx="4754017" cy="3548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31552" y="2900139"/>
            <a:ext cx="257048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Quantity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10942" y="2900139"/>
            <a:ext cx="257048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Units purchased per transaction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0881" y="3178001"/>
            <a:ext cx="4754017" cy="3548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31552" y="3255020"/>
            <a:ext cx="257048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Invoice Date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10942" y="3255020"/>
            <a:ext cx="257048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Timestamp of purchase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0881" y="3532882"/>
            <a:ext cx="4754017" cy="3548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31552" y="3609901"/>
            <a:ext cx="257048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Unit Price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10942" y="3609901"/>
            <a:ext cx="257048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Price per unit in GBP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0881" y="3887763"/>
            <a:ext cx="4754017" cy="3548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31552" y="3964781"/>
            <a:ext cx="257048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Customer ID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010942" y="3964781"/>
            <a:ext cx="257048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Unique buyer identifier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0881" y="4242643"/>
            <a:ext cx="4754017" cy="3548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31552" y="4319662"/>
            <a:ext cx="257048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Country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010942" y="4319662"/>
            <a:ext cx="257048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Customer's geographic location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9153" y="1618208"/>
            <a:ext cx="3257550" cy="3119586"/>
          </a:xfrm>
          <a:prstGeom prst="roundRect">
            <a:avLst>
              <a:gd name="adj" fmla="val 3016"/>
            </a:avLst>
          </a:prstGeom>
          <a:solidFill>
            <a:srgbClr val="481C9E">
              <a:alpha val="9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619824" y="1738685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Pipeline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619824" y="2063279"/>
            <a:ext cx="2996208" cy="710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Dataset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→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Cleaning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→ </a:t>
            </a:r>
            <a:pPr algn="l" indent="0" marL="0">
              <a:lnSpc>
                <a:spcPct val="128000"/>
              </a:lnSpc>
              <a:spcAft>
                <a:spcPts val="850"/>
              </a:spcAft>
              <a:buNone/>
            </a:pPr>
            <a:r>
              <a:rPr lang="en-US" sz="10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Analytics</a:t>
            </a: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Raw transactions are systematically cleaned and engineered into analysis-ready features.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30610"/>
            <a:ext cx="811262" cy="266402"/>
          </a:xfrm>
          <a:prstGeom prst="roundRect">
            <a:avLst>
              <a:gd name="adj" fmla="val 17880"/>
            </a:avLst>
          </a:prstGeom>
          <a:solidFill>
            <a:srgbClr val="1E0C41"/>
          </a:solidFill>
          <a:ln/>
        </p:spPr>
      </p:sp>
      <p:sp>
        <p:nvSpPr>
          <p:cNvPr id="3" name="Shape 1"/>
          <p:cNvSpPr/>
          <p:nvPr/>
        </p:nvSpPr>
        <p:spPr>
          <a:xfrm>
            <a:off x="581174" y="907107"/>
            <a:ext cx="113407" cy="113407"/>
          </a:xfrm>
          <a:prstGeom prst="rect">
            <a:avLst/>
          </a:prstGeom>
          <a:solidFill>
            <a:srgbClr val="DCD7E5"/>
          </a:solidFill>
          <a:ln/>
        </p:spPr>
      </p:sp>
      <p:sp>
        <p:nvSpPr>
          <p:cNvPr id="4" name="Text 2"/>
          <p:cNvSpPr/>
          <p:nvPr/>
        </p:nvSpPr>
        <p:spPr>
          <a:xfrm>
            <a:off x="751284" y="873100"/>
            <a:ext cx="92824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PIPELINE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6119" y="1153716"/>
            <a:ext cx="512169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Processing Workflow</a:t>
            </a:r>
            <a:endParaRPr lang="en-US" sz="2750" dirty="0"/>
          </a:p>
        </p:txBody>
      </p:sp>
      <p:sp>
        <p:nvSpPr>
          <p:cNvPr id="6" name="Shape 4"/>
          <p:cNvSpPr/>
          <p:nvPr/>
        </p:nvSpPr>
        <p:spPr>
          <a:xfrm>
            <a:off x="496119" y="2234580"/>
            <a:ext cx="2622724" cy="141759"/>
          </a:xfrm>
          <a:prstGeom prst="roundRect">
            <a:avLst>
              <a:gd name="adj" fmla="val 42002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7877" y="251809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Raw Dataset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7877" y="2824609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Online Retail II — unprocessed transactional records with missing values and cancelled invoices.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0601" y="2021904"/>
            <a:ext cx="2622724" cy="141759"/>
          </a:xfrm>
          <a:prstGeom prst="roundRect">
            <a:avLst>
              <a:gd name="adj" fmla="val 42002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2360" y="230542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Cleaning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02360" y="2611934"/>
            <a:ext cx="2339206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Removed missing customer records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Filtered cancelled invoices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Eliminated invalid entries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Date format conversion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1809304"/>
            <a:ext cx="2622724" cy="141759"/>
          </a:xfrm>
          <a:prstGeom prst="roundRect">
            <a:avLst>
              <a:gd name="adj" fmla="val 42002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6842" y="2092821"/>
            <a:ext cx="180349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Analysis-Ready Data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66842" y="2399333"/>
            <a:ext cx="2339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Clean, structured dataset processed using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Python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Pandas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and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NumPy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fully prepared for analytics and visualization.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06735"/>
            <a:ext cx="1149772" cy="266402"/>
          </a:xfrm>
          <a:prstGeom prst="roundRect">
            <a:avLst>
              <a:gd name="adj" fmla="val 17880"/>
            </a:avLst>
          </a:prstGeom>
          <a:solidFill>
            <a:srgbClr val="1E0C41"/>
          </a:solidFill>
          <a:ln/>
        </p:spPr>
      </p:sp>
      <p:sp>
        <p:nvSpPr>
          <p:cNvPr id="3" name="Shape 1"/>
          <p:cNvSpPr/>
          <p:nvPr/>
        </p:nvSpPr>
        <p:spPr>
          <a:xfrm>
            <a:off x="581174" y="983233"/>
            <a:ext cx="113407" cy="113407"/>
          </a:xfrm>
          <a:prstGeom prst="rect">
            <a:avLst/>
          </a:prstGeom>
          <a:solidFill>
            <a:srgbClr val="DCD7E5"/>
          </a:solidFill>
          <a:ln/>
        </p:spPr>
      </p:sp>
      <p:sp>
        <p:nvSpPr>
          <p:cNvPr id="4" name="Text 2"/>
          <p:cNvSpPr/>
          <p:nvPr/>
        </p:nvSpPr>
        <p:spPr>
          <a:xfrm>
            <a:off x="751284" y="949226"/>
            <a:ext cx="126675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6119" y="1229841"/>
            <a:ext cx="406427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Architecture</a:t>
            </a:r>
            <a:endParaRPr lang="en-US" sz="2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44898"/>
            <a:ext cx="4327773" cy="20323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3640" y="3566438"/>
            <a:ext cx="949568" cy="118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Layer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598404" y="3718896"/>
            <a:ext cx="1164803" cy="94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Raw data sources and ingestion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3586312" y="3187666"/>
            <a:ext cx="949568" cy="118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Processing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586312" y="3340124"/>
            <a:ext cx="1135261" cy="189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Python and Pandas transformations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813574" y="2933392"/>
            <a:ext cx="949568" cy="118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Analytics Module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98338" y="3085851"/>
            <a:ext cx="1164803" cy="94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Statistical and ML analysis</a:t>
            </a:r>
            <a:endParaRPr lang="en-US" sz="550" dirty="0"/>
          </a:p>
        </p:txBody>
      </p:sp>
      <p:sp>
        <p:nvSpPr>
          <p:cNvPr id="13" name="Text 10"/>
          <p:cNvSpPr/>
          <p:nvPr/>
        </p:nvSpPr>
        <p:spPr>
          <a:xfrm>
            <a:off x="3586312" y="2469951"/>
            <a:ext cx="1135261" cy="237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 Engine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3586312" y="2741105"/>
            <a:ext cx="1135261" cy="189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Generate personalized suggestions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813640" y="2300347"/>
            <a:ext cx="949568" cy="118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Flask Dashboard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598404" y="2452806"/>
            <a:ext cx="1164803" cy="94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Interactive UI for insights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5174531" y="2121917"/>
            <a:ext cx="347803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architecture follows a layered pipeline — each stage refines raw data into progressively higher-value outputs, culminating in an interactive Flask dashboard that delivers actionable business intelligence.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174531" y="3188643"/>
            <a:ext cx="3478039" cy="779562"/>
          </a:xfrm>
          <a:prstGeom prst="roundRect">
            <a:avLst>
              <a:gd name="adj" fmla="val 7638"/>
            </a:avLst>
          </a:prstGeom>
          <a:solidFill>
            <a:srgbClr val="31136C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289" y="3394174"/>
            <a:ext cx="177180" cy="14175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635228" y="3351609"/>
            <a:ext cx="287558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Flask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serves the frontend, while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Pandas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handles all backend data transformations.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446559"/>
            <a:ext cx="670173" cy="159023"/>
          </a:xfrm>
          <a:prstGeom prst="roundRect">
            <a:avLst>
              <a:gd name="adj" fmla="val 20125"/>
            </a:avLst>
          </a:prstGeom>
          <a:solidFill>
            <a:srgbClr val="1E0C41"/>
          </a:solidFill>
          <a:ln/>
        </p:spPr>
      </p:sp>
      <p:sp>
        <p:nvSpPr>
          <p:cNvPr id="4" name="Shape 1"/>
          <p:cNvSpPr/>
          <p:nvPr/>
        </p:nvSpPr>
        <p:spPr>
          <a:xfrm>
            <a:off x="553269" y="487933"/>
            <a:ext cx="76200" cy="76200"/>
          </a:xfrm>
          <a:prstGeom prst="rect">
            <a:avLst/>
          </a:prstGeom>
          <a:solidFill>
            <a:srgbClr val="DCD7E5"/>
          </a:solidFill>
          <a:ln/>
        </p:spPr>
      </p:sp>
      <p:sp>
        <p:nvSpPr>
          <p:cNvPr id="5" name="Text 2"/>
          <p:cNvSpPr/>
          <p:nvPr/>
        </p:nvSpPr>
        <p:spPr>
          <a:xfrm>
            <a:off x="667569" y="475134"/>
            <a:ext cx="898773" cy="101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DASHBOARD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496119" y="631180"/>
            <a:ext cx="283845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KPI Dashboard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96119" y="1072455"/>
            <a:ext cx="472276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£7.24M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2262188" y="1482403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Sales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96119" y="1669628"/>
            <a:ext cx="47227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Revenue across all markets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96119" y="1972642"/>
            <a:ext cx="472276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15,195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2262188" y="2382589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96119" y="2569815"/>
            <a:ext cx="47227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Transactions processed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96119" y="2872829"/>
            <a:ext cx="472276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4,277</a:t>
            </a:r>
            <a:endParaRPr lang="en-US" sz="2450" dirty="0"/>
          </a:p>
        </p:txBody>
      </p:sp>
      <p:sp>
        <p:nvSpPr>
          <p:cNvPr id="14" name="Text 11"/>
          <p:cNvSpPr/>
          <p:nvPr/>
        </p:nvSpPr>
        <p:spPr>
          <a:xfrm>
            <a:off x="2262188" y="3282776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96119" y="3470002"/>
            <a:ext cx="47227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Unique buyers analyzed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96119" y="3773016"/>
            <a:ext cx="472276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£476</a:t>
            </a:r>
            <a:endParaRPr lang="en-US" sz="2450" dirty="0"/>
          </a:p>
        </p:txBody>
      </p:sp>
      <p:sp>
        <p:nvSpPr>
          <p:cNvPr id="17" name="Text 14"/>
          <p:cNvSpPr/>
          <p:nvPr/>
        </p:nvSpPr>
        <p:spPr>
          <a:xfrm>
            <a:off x="2262188" y="4182963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Avg. Order Value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6119" y="4370189"/>
            <a:ext cx="47227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Revenue per transaction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96119" y="4569544"/>
            <a:ext cx="51799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Dynamic KPI tracking with interactive filters for country and year — delivering a real-time dashboard experience.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637654" cy="110430"/>
          </a:xfrm>
          <a:prstGeom prst="roundRect">
            <a:avLst>
              <a:gd name="adj" fmla="val 21567"/>
            </a:avLst>
          </a:prstGeom>
          <a:solidFill>
            <a:srgbClr val="1E0C41"/>
          </a:solidFill>
          <a:ln/>
        </p:spPr>
      </p:sp>
      <p:sp>
        <p:nvSpPr>
          <p:cNvPr id="3" name="Shape 1"/>
          <p:cNvSpPr/>
          <p:nvPr/>
        </p:nvSpPr>
        <p:spPr>
          <a:xfrm>
            <a:off x="538609" y="416719"/>
            <a:ext cx="56704" cy="56704"/>
          </a:xfrm>
          <a:prstGeom prst="rect">
            <a:avLst/>
          </a:prstGeom>
          <a:solidFill>
            <a:srgbClr val="DCD7E5"/>
          </a:solidFill>
          <a:ln/>
        </p:spPr>
      </p:sp>
      <p:sp>
        <p:nvSpPr>
          <p:cNvPr id="4" name="Text 2"/>
          <p:cNvSpPr/>
          <p:nvPr/>
        </p:nvSpPr>
        <p:spPr>
          <a:xfrm>
            <a:off x="623664" y="411063"/>
            <a:ext cx="924818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SALES ANALYTICS</a:t>
            </a:r>
            <a:endParaRPr lang="en-US" sz="400" dirty="0"/>
          </a:p>
        </p:txBody>
      </p:sp>
      <p:sp>
        <p:nvSpPr>
          <p:cNvPr id="5" name="Text 3"/>
          <p:cNvSpPr/>
          <p:nvPr/>
        </p:nvSpPr>
        <p:spPr>
          <a:xfrm>
            <a:off x="496119" y="514424"/>
            <a:ext cx="22536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Monthly Sales Trend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89012"/>
            <a:ext cx="8151763" cy="45649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53937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Sales surged dramatically from Jan 2010, peaking at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£400K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in Jul 2010 and sustaining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£250K–£420K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through 2011 — demonstrating strong post-ramp revenue retention.</a:t>
            </a:r>
            <a:endParaRPr lang="en-US" sz="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5558433"/>
            <a:ext cx="3989412" cy="28715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232" y="5554042"/>
            <a:ext cx="161046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Demand Analysis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4663232" y="5700192"/>
            <a:ext cx="3989412" cy="287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Paper Craft, Little Birdie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leads with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£78K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in revenue and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80,995 units</a:t>
            </a:r>
            <a:pPr algn="l"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sold.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These rankings directly inform inventory planning — ensuring high-demand SKUs remain in stock while underperformers get targeted promotional support.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2580"/>
            <a:ext cx="1151558" cy="187672"/>
          </a:xfrm>
          <a:prstGeom prst="roundRect">
            <a:avLst>
              <a:gd name="adj" fmla="val 19433"/>
            </a:avLst>
          </a:prstGeom>
          <a:solidFill>
            <a:srgbClr val="1E0C41"/>
          </a:solidFill>
          <a:ln/>
        </p:spPr>
      </p:sp>
      <p:sp>
        <p:nvSpPr>
          <p:cNvPr id="3" name="Shape 1"/>
          <p:cNvSpPr/>
          <p:nvPr/>
        </p:nvSpPr>
        <p:spPr>
          <a:xfrm>
            <a:off x="561231" y="453033"/>
            <a:ext cx="86767" cy="86767"/>
          </a:xfrm>
          <a:prstGeom prst="rect">
            <a:avLst/>
          </a:prstGeom>
          <a:solidFill>
            <a:srgbClr val="DCD7E5"/>
          </a:solidFill>
          <a:ln/>
        </p:spPr>
      </p:sp>
      <p:sp>
        <p:nvSpPr>
          <p:cNvPr id="4" name="Text 2"/>
          <p:cNvSpPr/>
          <p:nvPr/>
        </p:nvSpPr>
        <p:spPr>
          <a:xfrm>
            <a:off x="691381" y="435099"/>
            <a:ext cx="1348383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CUSTOMER &amp; MARKET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496119" y="623441"/>
            <a:ext cx="5537299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Segmentation &amp; Market Performance</a:t>
            </a:r>
            <a:endParaRPr lang="en-US" sz="2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80728"/>
            <a:ext cx="3943499" cy="28385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4112716"/>
            <a:ext cx="394349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Customer segments by value tier. </a:t>
            </a:r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Medium Value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is the largest group at </a:t>
            </a:r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1,698 customers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with </a:t>
            </a:r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2,557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repeat customers across all segments.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709145" y="1170310"/>
            <a:ext cx="2682701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🌍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Country Revenue Distribution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45" y="1438052"/>
            <a:ext cx="3943499" cy="28385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6119" y="4587553"/>
            <a:ext cx="860896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</a:t>
            </a:r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United Kingdom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dominates with </a:t>
            </a:r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£6.09M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in revenue — </a:t>
            </a:r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84%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of total sales. Identifying loyal customers and profitable regions enables targeted retention strategies.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568970"/>
            <a:ext cx="1005929" cy="168325"/>
          </a:xfrm>
          <a:prstGeom prst="roundRect">
            <a:avLst>
              <a:gd name="adj" fmla="val 19898"/>
            </a:avLst>
          </a:prstGeom>
          <a:solidFill>
            <a:srgbClr val="1E0C41"/>
          </a:solidFill>
          <a:ln/>
        </p:spPr>
      </p:sp>
      <p:sp>
        <p:nvSpPr>
          <p:cNvPr id="4" name="Shape 1"/>
          <p:cNvSpPr/>
          <p:nvPr/>
        </p:nvSpPr>
        <p:spPr>
          <a:xfrm>
            <a:off x="555873" y="613246"/>
            <a:ext cx="79697" cy="79697"/>
          </a:xfrm>
          <a:prstGeom prst="rect">
            <a:avLst/>
          </a:prstGeom>
          <a:solidFill>
            <a:srgbClr val="DCD7E5"/>
          </a:solidFill>
          <a:ln/>
        </p:spPr>
      </p:sp>
      <p:sp>
        <p:nvSpPr>
          <p:cNvPr id="5" name="Text 2"/>
          <p:cNvSpPr/>
          <p:nvPr/>
        </p:nvSpPr>
        <p:spPr>
          <a:xfrm>
            <a:off x="675382" y="598810"/>
            <a:ext cx="1224111" cy="10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RECOMMENDATIONS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496119" y="765274"/>
            <a:ext cx="4722763" cy="622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Business Recommendations</a:t>
            </a:r>
            <a:endParaRPr lang="en-US" sz="1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493341"/>
            <a:ext cx="2326332" cy="1253505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9456" y="1583010"/>
            <a:ext cx="119583" cy="11958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0046" y="1891978"/>
            <a:ext cx="1358801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Diversification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610046" y="2089696"/>
            <a:ext cx="2098477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UK contributes the highest revenue. Continue investing in this market while expanding marketing efforts in other regions to reduce dependency on a single market.</a:t>
            </a:r>
            <a:endParaRPr lang="en-US" sz="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92475" y="1493341"/>
            <a:ext cx="2326407" cy="1253505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95812" y="1583010"/>
            <a:ext cx="119583" cy="11958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006403" y="1891978"/>
            <a:ext cx="1443633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Inventory Optimization</a:t>
            </a:r>
            <a:endParaRPr lang="en-US" sz="950" dirty="0"/>
          </a:p>
        </p:txBody>
      </p:sp>
      <p:sp>
        <p:nvSpPr>
          <p:cNvPr id="14" name="Text 7"/>
          <p:cNvSpPr/>
          <p:nvPr/>
        </p:nvSpPr>
        <p:spPr>
          <a:xfrm>
            <a:off x="3006403" y="2089696"/>
            <a:ext cx="2098551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"Paper Craft, Little Birdie" is the highest-selling product. Maintain sufficient inventory and consider bundling with complementary products to increase revenue.</a:t>
            </a:r>
            <a:endParaRPr lang="en-US" sz="7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6119" y="2816870"/>
            <a:ext cx="4722763" cy="981894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797671" y="2906539"/>
            <a:ext cx="119583" cy="119583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10046" y="3215506"/>
            <a:ext cx="127969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Order Value</a:t>
            </a:r>
            <a:endParaRPr lang="en-US" sz="950" dirty="0"/>
          </a:p>
        </p:txBody>
      </p:sp>
      <p:sp>
        <p:nvSpPr>
          <p:cNvPr id="18" name="Text 9"/>
          <p:cNvSpPr/>
          <p:nvPr/>
        </p:nvSpPr>
        <p:spPr>
          <a:xfrm>
            <a:off x="610046" y="3413224"/>
            <a:ext cx="4494907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AOV of £476 has room to grow. Introduce product bundles, cross-selling strategies, and targeted discount offers to encourage higher spend per purchase.</a:t>
            </a:r>
            <a:endParaRPr lang="en-US" sz="750" dirty="0"/>
          </a:p>
        </p:txBody>
      </p:sp>
      <p:sp>
        <p:nvSpPr>
          <p:cNvPr id="19" name="Text 10"/>
          <p:cNvSpPr/>
          <p:nvPr/>
        </p:nvSpPr>
        <p:spPr>
          <a:xfrm>
            <a:off x="496119" y="3903836"/>
            <a:ext cx="5138291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by Kounain Siddiquee</a:t>
            </a:r>
            <a:endParaRPr lang="en-US" sz="2700" dirty="0"/>
          </a:p>
        </p:txBody>
      </p:sp>
      <p:sp>
        <p:nvSpPr>
          <p:cNvPr id="20" name="Text 11"/>
          <p:cNvSpPr/>
          <p:nvPr/>
        </p:nvSpPr>
        <p:spPr>
          <a:xfrm>
            <a:off x="496119" y="4438724"/>
            <a:ext cx="517996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Python · Flask · Pandas · Chart.js — Customer Insight Recommendation System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2026-07-03T17:01:19Z</dcterms:created>
  <dcterms:modified xsi:type="dcterms:W3CDTF">2026-07-03T17:01:19Z</dcterms:modified>
</cp:coreProperties>
</file>